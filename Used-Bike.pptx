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70" r:id="rId12"/>
    <p:sldId id="271" r:id="rId13"/>
    <p:sldId id="272" r:id="rId14"/>
    <p:sldId id="273" r:id="rId15"/>
    <p:sldId id="275" r:id="rId16"/>
    <p:sldId id="276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1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52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26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2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58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DD256F7-E597-4002-BC47-3285236F7651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19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97746-AABC-6D3D-C2EA-01F72DE919F9}"/>
              </a:ext>
            </a:extLst>
          </p:cNvPr>
          <p:cNvSpPr txBox="1"/>
          <p:nvPr/>
        </p:nvSpPr>
        <p:spPr>
          <a:xfrm>
            <a:off x="1317521" y="1618244"/>
            <a:ext cx="99994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Used Bike Price Analysis &amp; Prediction</a:t>
            </a:r>
            <a:endParaRPr lang="en-IN" sz="4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3ECFC-0A87-09EF-0893-C6DE3B0CAE43}"/>
              </a:ext>
            </a:extLst>
          </p:cNvPr>
          <p:cNvSpPr txBox="1"/>
          <p:nvPr/>
        </p:nvSpPr>
        <p:spPr>
          <a:xfrm>
            <a:off x="1332269" y="3421460"/>
            <a:ext cx="7639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Machine Learning + Data Visualization Approach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B0AB5-90AC-AC6A-1CEF-9F128FB2D561}"/>
              </a:ext>
            </a:extLst>
          </p:cNvPr>
          <p:cNvSpPr txBox="1"/>
          <p:nvPr/>
        </p:nvSpPr>
        <p:spPr>
          <a:xfrm>
            <a:off x="1332269" y="42805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 (Pandas, Scikit-learn), Power BI,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F9F-2A01-2586-9C45-046DE8C167FC}"/>
              </a:ext>
            </a:extLst>
          </p:cNvPr>
          <p:cNvSpPr txBox="1"/>
          <p:nvPr/>
        </p:nvSpPr>
        <p:spPr>
          <a:xfrm>
            <a:off x="6666271" y="5040011"/>
            <a:ext cx="382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Blesson Biju</a:t>
            </a:r>
          </a:p>
          <a:p>
            <a:pPr>
              <a:buNone/>
            </a:pPr>
            <a:r>
              <a:rPr lang="en-IN" sz="2000" b="1" dirty="0"/>
              <a:t>UMID – UMID27112571779</a:t>
            </a:r>
          </a:p>
          <a:p>
            <a:r>
              <a:rPr lang="en-IN" sz="2000" b="1"/>
              <a:t>Dec 1</a:t>
            </a:r>
            <a:r>
              <a:rPr lang="en-IN" sz="2000" b="1" baseline="30000"/>
              <a:t>st</a:t>
            </a:r>
            <a:r>
              <a:rPr lang="en-IN" sz="2000" b="1"/>
              <a:t> Batch</a:t>
            </a:r>
          </a:p>
        </p:txBody>
      </p:sp>
    </p:spTree>
    <p:extLst>
      <p:ext uri="{BB962C8B-B14F-4D97-AF65-F5344CB8AC3E}">
        <p14:creationId xmlns:p14="http://schemas.microsoft.com/office/powerpoint/2010/main" val="53880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B641-3E95-2CC4-89AB-E7876A7F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6F6243-5ABA-AAA6-4D8D-53110672CD4E}"/>
              </a:ext>
            </a:extLst>
          </p:cNvPr>
          <p:cNvSpPr txBox="1"/>
          <p:nvPr/>
        </p:nvSpPr>
        <p:spPr>
          <a:xfrm>
            <a:off x="3701844" y="209072"/>
            <a:ext cx="5009538" cy="89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Problem Statement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95B68-8CE3-A237-8D56-501649C60EE5}"/>
              </a:ext>
            </a:extLst>
          </p:cNvPr>
          <p:cNvSpPr txBox="1"/>
          <p:nvPr/>
        </p:nvSpPr>
        <p:spPr>
          <a:xfrm>
            <a:off x="993056" y="1306953"/>
            <a:ext cx="980276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Content: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The used bike market lacks transparent pricing standards.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Price varies based on multiple factors: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Model year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Kilometers driven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Engine power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Brand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/>
              <a:t>Ownership history</a:t>
            </a:r>
          </a:p>
          <a:p>
            <a:pPr>
              <a:buNone/>
            </a:pPr>
            <a:r>
              <a:rPr lang="en-US" sz="2400" b="1" dirty="0"/>
              <a:t>Objective: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Perform data cleaning &amp; feature engineering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Analyze price influencing factors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Build a machine learning model to predict resale price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Create an interactive Power BI dashboard for insights</a:t>
            </a:r>
          </a:p>
        </p:txBody>
      </p:sp>
    </p:spTree>
    <p:extLst>
      <p:ext uri="{BB962C8B-B14F-4D97-AF65-F5344CB8AC3E}">
        <p14:creationId xmlns:p14="http://schemas.microsoft.com/office/powerpoint/2010/main" val="6670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5CE8-1A55-4D54-3180-7A77F15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6D2096-CD73-BB27-FCE3-13D1BBB63331}"/>
              </a:ext>
            </a:extLst>
          </p:cNvPr>
          <p:cNvSpPr txBox="1"/>
          <p:nvPr/>
        </p:nvSpPr>
        <p:spPr>
          <a:xfrm>
            <a:off x="3591231" y="206477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Dataset Overview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3D448-90D2-32D3-044D-C50D398C9E93}"/>
              </a:ext>
            </a:extLst>
          </p:cNvPr>
          <p:cNvSpPr txBox="1"/>
          <p:nvPr/>
        </p:nvSpPr>
        <p:spPr>
          <a:xfrm>
            <a:off x="6167284" y="1344811"/>
            <a:ext cx="6096000" cy="27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Content: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Total Records: 7,857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Features: 8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Source: Used bike listings</a:t>
            </a:r>
          </a:p>
          <a:p>
            <a:pPr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C46DF-33CA-7688-F49A-03DB6F01AD92}"/>
              </a:ext>
            </a:extLst>
          </p:cNvPr>
          <p:cNvSpPr txBox="1"/>
          <p:nvPr/>
        </p:nvSpPr>
        <p:spPr>
          <a:xfrm>
            <a:off x="1769806" y="1344811"/>
            <a:ext cx="6096000" cy="500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Key Columns: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/>
              <a:t>model_name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/>
              <a:t>model_year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/>
              <a:t>kms_driven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owner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location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mileage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power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7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6286-29AF-73E2-4D77-CE2FF523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7D7DA-FFE9-AE68-1386-6F365949CF1A}"/>
              </a:ext>
            </a:extLst>
          </p:cNvPr>
          <p:cNvSpPr txBox="1"/>
          <p:nvPr/>
        </p:nvSpPr>
        <p:spPr>
          <a:xfrm>
            <a:off x="860321" y="285135"/>
            <a:ext cx="10515602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 Preprocessing &amp; Feature Engineering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31E49-919F-EC98-C19F-06768BB79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322" y="1390353"/>
            <a:ext cx="5610831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brand from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model_name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engine capacity (CC)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mileage to numeric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power to bhp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kms_driven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new feature: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bike_age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inconsistencies</a:t>
            </a:r>
          </a:p>
        </p:txBody>
      </p:sp>
    </p:spTree>
    <p:extLst>
      <p:ext uri="{BB962C8B-B14F-4D97-AF65-F5344CB8AC3E}">
        <p14:creationId xmlns:p14="http://schemas.microsoft.com/office/powerpoint/2010/main" val="12161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EC9A-5118-C4DC-55EE-C9E815BF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3A0C4-6358-3890-ECB4-733EC43F8354}"/>
              </a:ext>
            </a:extLst>
          </p:cNvPr>
          <p:cNvSpPr txBox="1"/>
          <p:nvPr/>
        </p:nvSpPr>
        <p:spPr>
          <a:xfrm>
            <a:off x="2013154" y="435787"/>
            <a:ext cx="8165692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Exploratory Data Analysis (EDA)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AB1CD3-A7CE-C1A6-5F96-A9C10C9CA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934" y="1806921"/>
            <a:ext cx="6750566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Newer bikes have higher resale value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kms_driven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lower price trend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brands retain value better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First-owner bikes are priced higher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distribution is positively skewed</a:t>
            </a:r>
          </a:p>
        </p:txBody>
      </p:sp>
    </p:spTree>
    <p:extLst>
      <p:ext uri="{BB962C8B-B14F-4D97-AF65-F5344CB8AC3E}">
        <p14:creationId xmlns:p14="http://schemas.microsoft.com/office/powerpoint/2010/main" val="17572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3F37-1291-6A3E-D12F-3F20441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36236-FB0A-DF94-5738-BD20B0243418}"/>
              </a:ext>
            </a:extLst>
          </p:cNvPr>
          <p:cNvSpPr txBox="1"/>
          <p:nvPr/>
        </p:nvSpPr>
        <p:spPr>
          <a:xfrm>
            <a:off x="0" y="0"/>
            <a:ext cx="1219200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/>
              <a:t>Price Prediction Model</a:t>
            </a:r>
            <a:endParaRPr lang="en-US" sz="40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0BDCD-9867-40F8-7E87-BF12EAB0576F}"/>
              </a:ext>
            </a:extLst>
          </p:cNvPr>
          <p:cNvSpPr txBox="1"/>
          <p:nvPr/>
        </p:nvSpPr>
        <p:spPr>
          <a:xfrm>
            <a:off x="698090" y="924949"/>
            <a:ext cx="6096000" cy="500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Content:</a:t>
            </a:r>
            <a:endParaRPr lang="en-I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Target Variable: Price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Feature Encoding: One-Hot Encoding for categorical variables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Train-Test Split: 80:20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Algorithms Tested: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Linear Regression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Ridge / Lasso (if used)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Random Forest (if used)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D86D8-F5C0-A167-220A-9690B49D6742}"/>
              </a:ext>
            </a:extLst>
          </p:cNvPr>
          <p:cNvSpPr txBox="1"/>
          <p:nvPr/>
        </p:nvSpPr>
        <p:spPr>
          <a:xfrm>
            <a:off x="7049730" y="997622"/>
            <a:ext cx="6096000" cy="2238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Evaluation Metrics:</a:t>
            </a:r>
            <a:endParaRPr lang="en-I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R² Score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MAE</a:t>
            </a:r>
            <a:endParaRPr lang="en-IN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RMSE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2049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E95F-AA60-E400-802B-EDF77026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034" y="137651"/>
            <a:ext cx="10222870" cy="1140542"/>
          </a:xfrm>
        </p:spPr>
        <p:txBody>
          <a:bodyPr>
            <a:noAutofit/>
          </a:bodyPr>
          <a:lstStyle/>
          <a:p>
            <a:r>
              <a:rPr lang="en-IN" sz="4000" b="1" dirty="0"/>
              <a:t>Model Performance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F82FD-50C2-EB96-4E86-4D9D8600F867}"/>
              </a:ext>
            </a:extLst>
          </p:cNvPr>
          <p:cNvSpPr txBox="1"/>
          <p:nvPr/>
        </p:nvSpPr>
        <p:spPr>
          <a:xfrm>
            <a:off x="796413" y="1459738"/>
            <a:ext cx="6096000" cy="1684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R² Score - </a:t>
            </a:r>
            <a:r>
              <a:rPr lang="en-IN" sz="2000" dirty="0"/>
              <a:t>95431.32146192799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MAE - </a:t>
            </a:r>
            <a:r>
              <a:rPr lang="en-IN" sz="2000" dirty="0"/>
              <a:t>33718.28359508728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RMSE - </a:t>
            </a:r>
            <a:r>
              <a:rPr lang="en-IN" sz="2000" dirty="0"/>
              <a:t>0.5723596412758851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FC82F7-C3F3-3EF1-E925-CCC2B566F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034" y="3035701"/>
            <a:ext cx="7895110" cy="354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explains __% of price variance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margin indicates reasonable prediction accuracy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influencing features: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 Age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Kms Driven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08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D1D4-0A95-95E4-B80A-07D293BE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045" y="0"/>
            <a:ext cx="9905998" cy="1905000"/>
          </a:xfrm>
        </p:spPr>
        <p:txBody>
          <a:bodyPr>
            <a:normAutofit/>
          </a:bodyPr>
          <a:lstStyle/>
          <a:p>
            <a:r>
              <a:rPr lang="en-IN" sz="4000" b="1" dirty="0"/>
              <a:t>Interactive Dashboard (Power BI)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A9B142-D32C-5DDA-7473-B62CA0808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637" y="1489610"/>
            <a:ext cx="5845896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by Brand (Bar Chart)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by Model Year (Line Chart)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 Type Distribution (Pie Chart)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 vs Price (Scatter Plot)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Location-based Filtering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Cards (Avg Price, Total Listings)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03BC6-7421-4767-B167-D263E2BC55C1}"/>
              </a:ext>
            </a:extLst>
          </p:cNvPr>
          <p:cNvSpPr txBox="1"/>
          <p:nvPr/>
        </p:nvSpPr>
        <p:spPr>
          <a:xfrm>
            <a:off x="1347017" y="5137557"/>
            <a:ext cx="96552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Dashboard allows dynamic filtering and comparative analysis.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77224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9919-EA6A-ECFD-DE25-16812D7E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304800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Conclusion &amp; 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BD52B-CDF9-C82D-4578-E3772DA6C60B}"/>
              </a:ext>
            </a:extLst>
          </p:cNvPr>
          <p:cNvSpPr txBox="1"/>
          <p:nvPr/>
        </p:nvSpPr>
        <p:spPr>
          <a:xfrm>
            <a:off x="1071717" y="1012154"/>
            <a:ext cx="7669160" cy="556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Conclusion: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Successfully cleaned raw real-world dataset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Identified key price-driving factors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Built ML model for resale prediction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Developed interactive business dashboard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/>
              <a:t>Future Improvements: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Hyperparameter tuning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Advanced models (</a:t>
            </a:r>
            <a:r>
              <a:rPr lang="en-US" sz="2400" dirty="0" err="1"/>
              <a:t>XGBoost</a:t>
            </a:r>
            <a:r>
              <a:rPr lang="en-US" sz="24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Deployment as web app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Real-time market data integration</a:t>
            </a:r>
          </a:p>
        </p:txBody>
      </p:sp>
    </p:spTree>
    <p:extLst>
      <p:ext uri="{BB962C8B-B14F-4D97-AF65-F5344CB8AC3E}">
        <p14:creationId xmlns:p14="http://schemas.microsoft.com/office/powerpoint/2010/main" val="194720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AEE6B-9E41-71C5-3DCA-6952B040E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1178"/>
            <a:ext cx="12192000" cy="693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C38B6-3496-B202-0406-2E89142DD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356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2F72E2-90A8-74BA-766C-F356725AE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6042"/>
            <a:ext cx="12192000" cy="350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BC9C0-D705-446E-8A64-388A4707C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2167"/>
            <a:ext cx="12192000" cy="32578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743B75-58E5-494A-BC76-9FD7F0723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5652"/>
            <a:ext cx="12192000" cy="36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1BDF0C-4056-4191-1F1B-784909CE7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703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853583-8244-50BD-F320-256A14860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3870"/>
            <a:ext cx="12192000" cy="40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34A5B5-CB09-F477-7DE1-6B2438DB7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0916"/>
            <a:ext cx="12192000" cy="3009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5B4CBE-0933-0F50-8F4F-1E6B5F0F0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4258"/>
            <a:ext cx="12192000" cy="1613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2D51C-C171-A06A-5932-60924A1B7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36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6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E9848E-9780-636F-D4C8-87DC5A97B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49677"/>
            <a:ext cx="12192000" cy="3908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72531-F20C-0CD9-6AB9-259208888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9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12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D44A7B-AC02-D44C-1341-A9D631405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5148"/>
            <a:ext cx="12192000" cy="3642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E42D3-0606-39E7-244B-549AC03D8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21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56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DA013B-781A-633F-4981-A50B083B5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0" t="17778"/>
          <a:stretch>
            <a:fillRect/>
          </a:stretch>
        </p:blipFill>
        <p:spPr>
          <a:xfrm>
            <a:off x="0" y="0"/>
            <a:ext cx="12192000" cy="682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99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90</TotalTime>
  <Words>379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Performance &amp; Evaluation</vt:lpstr>
      <vt:lpstr>Interactive Dashboard (Power BI)</vt:lpstr>
      <vt:lpstr>Conclusion &amp; Future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Blesson Biju</dc:creator>
  <cp:lastModifiedBy>Blesson Biju</cp:lastModifiedBy>
  <cp:revision>4</cp:revision>
  <dcterms:created xsi:type="dcterms:W3CDTF">2026-02-07T13:10:56Z</dcterms:created>
  <dcterms:modified xsi:type="dcterms:W3CDTF">2026-02-20T13:45:25Z</dcterms:modified>
</cp:coreProperties>
</file>